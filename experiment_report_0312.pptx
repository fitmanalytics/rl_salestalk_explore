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tsHcCKm32b/sCEX/VgMqx9Iej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BCE98C-879A-4A73-B205-419AE505E898}">
  <a:tblStyle styleId="{1FBCE98C-879A-4A73-B205-419AE505E89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5f996db06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95f996db06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95f996db06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5f996db06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95f996db06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95f996db06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5f996db0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95f996db0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95f996db0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5f996db06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95f996db06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5f996db06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RL Sales Negotiation Agent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2377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Experiment Results — DQN vs A2C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41148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March 12,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Experiment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Objective: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Train RL agents to handle customer objections in a simulated sales negotiation environment (custom OpenAI Gym).</a:t>
            </a:r>
            <a:b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Algorithms: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DQN (Deep Q-Network) and A2C (Advantage Actor-Critic) via Stable Baselines 3.</a:t>
            </a:r>
            <a:b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Evaluation: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1,000 episodes per model. Key metrics: average reward, conversion rate, action distribution.</a:t>
            </a:r>
            <a:b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Experiments: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DQN baseline (exit threshold = 5), DQN variant (exit threshold = 7), A2C baseline.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SalesNegotiationEnv — Custom Gymnasium Environment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/>
          <p:nvPr/>
        </p:nvSpPr>
        <p:spPr>
          <a:xfrm>
            <a:off x="457200" y="1828800"/>
            <a:ext cx="109728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DQN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57200" y="29260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Framework: Stable Baseline 3.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Online Training with epsilon greedy sampling strategy.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Architecture: Q-net with 2 layer MLP [128, 64].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DQN — Configuration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29200" y="9144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Setup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total timesteps: 400,000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eval freq: 5,000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 eval episodes: 1000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checkpoint freq: 5,000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" name="Google Shape;44;p4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{1FBCE98C-879A-4A73-B205-419AE505E898}</a:tableStyleId>
              </a:tblPr>
              <a:tblGrid>
                <a:gridCol w="2263150"/>
                <a:gridCol w="185165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gamma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learning_rate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3e-5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batch_size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buffer_size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50,000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target_update_interval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20,000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learning_starts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40,000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train_freq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exploration_initial_eps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exploration_final_eps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exploration_fraction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max_grad_norm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" name="Google Shape;45;p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Stable Baselines 3 — DQN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5f996db06_0_17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DQN — Results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5f996db06_0_17"/>
          <p:cNvSpPr/>
          <p:nvPr/>
        </p:nvSpPr>
        <p:spPr>
          <a:xfrm>
            <a:off x="457200" y="1188720"/>
            <a:ext cx="25602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95f996db06_0_17"/>
          <p:cNvSpPr/>
          <p:nvPr/>
        </p:nvSpPr>
        <p:spPr>
          <a:xfrm>
            <a:off x="457200" y="1325880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r>
              <a:rPr b="1" lang="en-US" sz="4400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r>
              <a:rPr b="1" lang="en-US" sz="4400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.7</a:t>
            </a:r>
            <a:r>
              <a:rPr b="1" i="0" lang="en-US" sz="4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95f996db06_0_17"/>
          <p:cNvSpPr/>
          <p:nvPr/>
        </p:nvSpPr>
        <p:spPr>
          <a:xfrm>
            <a:off x="457200" y="21488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Conversion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95f996db06_0_17"/>
          <p:cNvSpPr/>
          <p:nvPr/>
        </p:nvSpPr>
        <p:spPr>
          <a:xfrm>
            <a:off x="3291840" y="1188720"/>
            <a:ext cx="25602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95f996db06_0_17"/>
          <p:cNvSpPr/>
          <p:nvPr/>
        </p:nvSpPr>
        <p:spPr>
          <a:xfrm>
            <a:off x="3291840" y="1325880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1.</a:t>
            </a:r>
            <a:r>
              <a:rPr b="1" lang="en-US" sz="4400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51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95f996db06_0_17"/>
          <p:cNvSpPr/>
          <p:nvPr/>
        </p:nvSpPr>
        <p:spPr>
          <a:xfrm>
            <a:off x="3291840" y="21488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Reward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95f996db06_0_17"/>
          <p:cNvSpPr/>
          <p:nvPr/>
        </p:nvSpPr>
        <p:spPr>
          <a:xfrm>
            <a:off x="457200" y="301752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Evaluated over 1,000 episodes using best model checkpoint.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95f996db06_0_17"/>
          <p:cNvSpPr/>
          <p:nvPr/>
        </p:nvSpPr>
        <p:spPr>
          <a:xfrm>
            <a:off x="457200" y="46634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DQN Evaluation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95f996db06_0_17"/>
          <p:cNvSpPr/>
          <p:nvPr/>
        </p:nvSpPr>
        <p:spPr>
          <a:xfrm>
            <a:off x="6126492" y="1188720"/>
            <a:ext cx="25602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95f996db06_0_17"/>
          <p:cNvSpPr/>
          <p:nvPr/>
        </p:nvSpPr>
        <p:spPr>
          <a:xfrm>
            <a:off x="6126492" y="1325880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Trebuchet MS"/>
              <a:buNone/>
            </a:pPr>
            <a:r>
              <a:rPr b="1" lang="en-US" sz="4400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3.8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95f996db06_0_17"/>
          <p:cNvSpPr/>
          <p:nvPr/>
        </p:nvSpPr>
        <p:spPr>
          <a:xfrm>
            <a:off x="6126492" y="21488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Episode Length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DQN — Evaluation (Conv. Rate: 44.70%)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chart_0.png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DQN — Action Distribution Comparison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274320" y="548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" y="822960"/>
            <a:ext cx="43891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/>
          <p:nvPr/>
        </p:nvSpPr>
        <p:spPr>
          <a:xfrm>
            <a:off x="4754880" y="548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Excluding </a:t>
            </a: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Topic 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822960"/>
            <a:ext cx="43891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chart_2.png | chart_3.png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5f996db06_0_36"/>
          <p:cNvSpPr/>
          <p:nvPr/>
        </p:nvSpPr>
        <p:spPr>
          <a:xfrm>
            <a:off x="457200" y="27432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95f996db06_0_36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Objection Handling Strategy</a:t>
            </a:r>
            <a:endParaRPr b="1" sz="16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objection is A/B/C: prioritize incentives. In particular, always use incentives for the first two rounds when possible.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objection is D and round &lt; 5, persuade. If round &gt;= 5: enforce close.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Early Closing</a:t>
            </a:r>
            <a:endParaRPr b="1" sz="16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objection is A/B/C: closing starting at round 5 (moderately), enforce closing at round 6 and after.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objection is D, moderate closing at round 4, enforce at round 5 and after.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/>
          <p:nvPr/>
        </p:nvSpPr>
        <p:spPr>
          <a:xfrm>
            <a:off x="457200" y="1828800"/>
            <a:ext cx="109728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DQN Experiment: change exit threshold to 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457200" y="3202630"/>
            <a:ext cx="7315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Same model architecture,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change customer_exit_threshold from the gym environment (from 5) to 7.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5f996db06_0_0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DQN — Results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95f996db06_0_0"/>
          <p:cNvSpPr/>
          <p:nvPr/>
        </p:nvSpPr>
        <p:spPr>
          <a:xfrm>
            <a:off x="457200" y="1188720"/>
            <a:ext cx="25602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95f996db06_0_0"/>
          <p:cNvSpPr/>
          <p:nvPr/>
        </p:nvSpPr>
        <p:spPr>
          <a:xfrm>
            <a:off x="457200" y="1325880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r>
              <a:rPr b="1" lang="en-US" sz="4400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6.0</a:t>
            </a:r>
            <a:r>
              <a:rPr b="1" i="0" lang="en-US" sz="4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95f996db06_0_0"/>
          <p:cNvSpPr/>
          <p:nvPr/>
        </p:nvSpPr>
        <p:spPr>
          <a:xfrm>
            <a:off x="457200" y="21488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Conversion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95f996db06_0_0"/>
          <p:cNvSpPr/>
          <p:nvPr/>
        </p:nvSpPr>
        <p:spPr>
          <a:xfrm>
            <a:off x="3291840" y="1188720"/>
            <a:ext cx="25602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95f996db06_0_0"/>
          <p:cNvSpPr/>
          <p:nvPr/>
        </p:nvSpPr>
        <p:spPr>
          <a:xfrm>
            <a:off x="3291840" y="1325880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1.</a:t>
            </a:r>
            <a:r>
              <a:rPr b="1" lang="en-US" sz="4400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66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95f996db06_0_0"/>
          <p:cNvSpPr/>
          <p:nvPr/>
        </p:nvSpPr>
        <p:spPr>
          <a:xfrm>
            <a:off x="3291840" y="21488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Reward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95f996db06_0_0"/>
          <p:cNvSpPr/>
          <p:nvPr/>
        </p:nvSpPr>
        <p:spPr>
          <a:xfrm>
            <a:off x="457200" y="301752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Evaluated over 1,000 episodes using best model checkpoint.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95f996db06_0_0"/>
          <p:cNvSpPr/>
          <p:nvPr/>
        </p:nvSpPr>
        <p:spPr>
          <a:xfrm>
            <a:off x="457200" y="46634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DQN Evaluation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95f996db06_0_0"/>
          <p:cNvSpPr/>
          <p:nvPr/>
        </p:nvSpPr>
        <p:spPr>
          <a:xfrm>
            <a:off x="6126492" y="1188720"/>
            <a:ext cx="25602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95f996db06_0_0"/>
          <p:cNvSpPr/>
          <p:nvPr/>
        </p:nvSpPr>
        <p:spPr>
          <a:xfrm>
            <a:off x="6126492" y="1325880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Trebuchet MS"/>
              <a:buNone/>
            </a:pPr>
            <a:r>
              <a:rPr b="1" lang="en-US" sz="4400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4.5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95f996db06_0_0"/>
          <p:cNvSpPr/>
          <p:nvPr/>
        </p:nvSpPr>
        <p:spPr>
          <a:xfrm>
            <a:off x="6126492" y="21488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DQN Experiment: exit threshold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DQN Experiment: exit threshold — Action Distribution Comparison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274320" y="548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" y="822960"/>
            <a:ext cx="43891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2"/>
          <p:cNvSpPr/>
          <p:nvPr/>
        </p:nvSpPr>
        <p:spPr>
          <a:xfrm>
            <a:off x="4754880" y="548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Excluding Topic 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822960"/>
            <a:ext cx="4389120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5f996db06_0_49"/>
          <p:cNvSpPr/>
          <p:nvPr/>
        </p:nvSpPr>
        <p:spPr>
          <a:xfrm>
            <a:off x="457200" y="27432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95f996db06_0_49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Objection Handling Strategy</a:t>
            </a:r>
            <a:endParaRPr b="1" sz="16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objection is A/B/C: still prioritize incentives. (Always use incentive at round 1.) But has a higher percentage of persuade than when exit threshold = 5.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objection is D and round &lt; 5, persuade. If round &gt;= 5: enforce close.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Early Closing</a:t>
            </a:r>
            <a:endParaRPr b="1" sz="16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objection is A/B/C: closing starting at round 7 (moderately), enforce closing at round 8 and after.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objection is D, moderate closing at round 4, enforce at round 6 and after.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457200" y="1828800"/>
            <a:ext cx="109728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A2C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457200" y="29260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A2C models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with 2-layer MLP policy-net and value-net (both [128,64]).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A2C — Configuration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5029200" y="9144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Setup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5029200" y="1371600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total timesteps: 300,000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eval freq: 5,000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 eval episodes: 1000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checkpoint freq: 5000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14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{1FBCE98C-879A-4A73-B205-419AE505E898}</a:tableStyleId>
              </a:tblPr>
              <a:tblGrid>
                <a:gridCol w="2263150"/>
                <a:gridCol w="185165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net_arch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dict( pi=[128, 64], # Actor layers vf=[128, 64] # Critic layers 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gamma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learning_rate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5e-5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n_steps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gae_lambda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ent_coef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vf_coef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max_grad_norm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Stable Baselines 3 — A2C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A2C — Results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457200" y="132588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32.0%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457200" y="21488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Conversion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3291840" y="132588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1.08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3291840" y="21488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Reward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Evaluated over 1,000 episodes using best model checkpoint.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A2C Evaluation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6126492" y="1188720"/>
            <a:ext cx="2560200" cy="1463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6126492" y="1325880"/>
            <a:ext cx="2560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Trebuchet MS"/>
              <a:buNone/>
            </a:pPr>
            <a:r>
              <a:rPr b="1" lang="en-US" sz="4400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2.7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6126492" y="214884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</a:t>
            </a: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A2C — Evaluation (Conv. Rate: 32.00%)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chart_7.png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A2C — Action Distribution Comparison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274320" y="548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Actions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" y="822960"/>
            <a:ext cx="43891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/>
          <p:nvPr/>
        </p:nvSpPr>
        <p:spPr>
          <a:xfrm>
            <a:off x="4754880" y="548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Excluding Topic 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822960"/>
            <a:ext cx="43891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chart_8.png | chart_9.png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Model Comparison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18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{1FBCE98C-879A-4A73-B205-419AE505E898}</a:tableStyleId>
              </a:tblPr>
              <a:tblGrid>
                <a:gridCol w="2286000"/>
                <a:gridCol w="1981200"/>
                <a:gridCol w="19812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DQN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A2C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 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44.7%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Reward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Learning 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3e-5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5e-5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Timesteps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18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DQN achieves significantly higher conversion rate (44.7%) vs A2C (32.0%), with exit threshold = 7 pushing to 46.0%.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models evaluated over 1,000 episodes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2026-03-12T15:17:50Z</dcterms:created>
  <dc:creator>Notebook-to-Slides Skill</dc:creator>
</cp:coreProperties>
</file>