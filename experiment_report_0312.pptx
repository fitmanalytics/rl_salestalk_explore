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iMUnE6pThEZ5sP/tCtg9Piw53t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F6018F-751F-4F2E-BD67-FB7EB4D050E7}">
  <a:tblStyle styleId="{D5F6018F-751F-4F2E-BD67-FB7EB4D050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95f996db06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g395f996db06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g395f996db06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95f996db06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395f996db06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95f996db06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40080" y="1280160"/>
            <a:ext cx="7772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Trebuchet MS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RL Sales Negotiation Agent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237744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Experiment Results — DQN vs A2C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March 12,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Experiment Overview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Objective: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Train RL agents to handle customer objections in a simulated sales negotiation environment (custom OpenAI Gym).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Algorithms: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DQN (Deep Q-Network) and A2C (Advantage Actor-Critic) via Stable Baselines 3.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Evaluation: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1,000 episodes per model. Key metrics: average reward, conversion rate, action distribution.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Experiments: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DQN baseline (exit threshold = 5), DQN variant (exit threshold = 7), A2C baseline.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SalesNegotiationEnv — Custom Gymnasium Environment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DQN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57200" y="292608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Reward Distribution and Episode Length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 evaluate 1000 episodes using the best model selected by SB3.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Configuration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02920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Training Setup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0" y="137160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total timesteps: 400,000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 eval episodes: 1000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checkpoint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4" name="Google Shape;44;p4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{D5F6018F-751F-4F2E-BD67-FB7EB4D050E7}</a:tableStyleId>
              </a:tblPr>
              <a:tblGrid>
                <a:gridCol w="2263150"/>
                <a:gridCol w="185165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Parameter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gamma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learning_rate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3e-5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batch_size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buffer_size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target_update_interval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learning_starts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train_freq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exploration_initial_eps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exploration_final_eps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exploration_fraction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max_grad_norm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5" name="Google Shape;45;p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Stable Baselines 3 — DQN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5f996db06_0_17"/>
          <p:cNvSpPr/>
          <p:nvPr/>
        </p:nvSpPr>
        <p:spPr>
          <a:xfrm>
            <a:off x="457200" y="27432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95f996db06_0_17"/>
          <p:cNvSpPr/>
          <p:nvPr/>
        </p:nvSpPr>
        <p:spPr>
          <a:xfrm>
            <a:off x="45720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95f996db06_0_17"/>
          <p:cNvSpPr/>
          <p:nvPr/>
        </p:nvSpPr>
        <p:spPr>
          <a:xfrm>
            <a:off x="45720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.7</a:t>
            </a: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95f996db06_0_17"/>
          <p:cNvSpPr/>
          <p:nvPr/>
        </p:nvSpPr>
        <p:spPr>
          <a:xfrm>
            <a:off x="45720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95f996db06_0_17"/>
          <p:cNvSpPr/>
          <p:nvPr/>
        </p:nvSpPr>
        <p:spPr>
          <a:xfrm>
            <a:off x="329184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g395f996db06_0_17"/>
          <p:cNvSpPr/>
          <p:nvPr/>
        </p:nvSpPr>
        <p:spPr>
          <a:xfrm>
            <a:off x="329184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51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95f996db06_0_17"/>
          <p:cNvSpPr/>
          <p:nvPr/>
        </p:nvSpPr>
        <p:spPr>
          <a:xfrm>
            <a:off x="329184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95f996db06_0_17"/>
          <p:cNvSpPr/>
          <p:nvPr/>
        </p:nvSpPr>
        <p:spPr>
          <a:xfrm>
            <a:off x="457200" y="3017520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95f996db06_0_17"/>
          <p:cNvSpPr/>
          <p:nvPr/>
        </p:nvSpPr>
        <p:spPr>
          <a:xfrm>
            <a:off x="457200" y="466344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DQN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95f996db06_0_17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g395f996db06_0_17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3.8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95f996db06_0_17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Episode Length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Evaluation (Conv. Rate: 44.70%)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9" name="Google Shape;6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chart_0.png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8" name="Google Shape;7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8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Exit Actions (Topic ≠ 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0" name="Google Shape;8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chart_2.png | chart_3.png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9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change exit threshold to 7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95f996db06_0_0"/>
          <p:cNvSpPr/>
          <p:nvPr/>
        </p:nvSpPr>
        <p:spPr>
          <a:xfrm>
            <a:off x="457200" y="27432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g395f996db06_0_0"/>
          <p:cNvSpPr/>
          <p:nvPr/>
        </p:nvSpPr>
        <p:spPr>
          <a:xfrm>
            <a:off x="45720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g395f996db06_0_0"/>
          <p:cNvSpPr/>
          <p:nvPr/>
        </p:nvSpPr>
        <p:spPr>
          <a:xfrm>
            <a:off x="45720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6.0</a:t>
            </a: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95f996db06_0_0"/>
          <p:cNvSpPr/>
          <p:nvPr/>
        </p:nvSpPr>
        <p:spPr>
          <a:xfrm>
            <a:off x="45720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95f996db06_0_0"/>
          <p:cNvSpPr/>
          <p:nvPr/>
        </p:nvSpPr>
        <p:spPr>
          <a:xfrm>
            <a:off x="329184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95f996db06_0_0"/>
          <p:cNvSpPr/>
          <p:nvPr/>
        </p:nvSpPr>
        <p:spPr>
          <a:xfrm>
            <a:off x="329184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66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g395f996db06_0_0"/>
          <p:cNvSpPr/>
          <p:nvPr/>
        </p:nvSpPr>
        <p:spPr>
          <a:xfrm>
            <a:off x="329184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95f996db06_0_0"/>
          <p:cNvSpPr/>
          <p:nvPr/>
        </p:nvSpPr>
        <p:spPr>
          <a:xfrm>
            <a:off x="457200" y="3017520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95f996db06_0_0"/>
          <p:cNvSpPr/>
          <p:nvPr/>
        </p:nvSpPr>
        <p:spPr>
          <a:xfrm>
            <a:off x="457200" y="466344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DQN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95f996db06_0_0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95f996db06_0_0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4.5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g395f996db06_0_0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exit threshold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2" name="Google Shape;11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2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exit threshold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2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0" name="Google Shape;12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2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Exit Actions (Topic ≠ 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A2C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3"/>
          <p:cNvSpPr/>
          <p:nvPr/>
        </p:nvSpPr>
        <p:spPr>
          <a:xfrm>
            <a:off x="457200" y="292608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A2C models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Configuration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502920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Training Setup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4"/>
          <p:cNvSpPr/>
          <p:nvPr/>
        </p:nvSpPr>
        <p:spPr>
          <a:xfrm>
            <a:off x="5029200" y="137160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total timesteps: 300,000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 eval episodes: 1000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checkpoint freq: 5000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9" name="Google Shape;139;p14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{D5F6018F-751F-4F2E-BD67-FB7EB4D050E7}</a:tableStyleId>
              </a:tblPr>
              <a:tblGrid>
                <a:gridCol w="2263150"/>
                <a:gridCol w="185165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Parameter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net_arch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dict( pi=[128, 64], # Actor layers vf=[128, 64] # Critic layers 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gamma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learning_rate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5e-5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n_steps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gae_lambda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ent_coef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vf_coef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max_grad_norm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0" name="Google Shape;140;p1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Stable Baselines 3 — A2C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/>
          <p:nvPr/>
        </p:nvSpPr>
        <p:spPr>
          <a:xfrm>
            <a:off x="457200" y="118872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5"/>
          <p:cNvSpPr/>
          <p:nvPr/>
        </p:nvSpPr>
        <p:spPr>
          <a:xfrm>
            <a:off x="457200" y="1325880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32.0%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/>
          <p:nvPr/>
        </p:nvSpPr>
        <p:spPr>
          <a:xfrm>
            <a:off x="457200" y="2148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3291840" y="118872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5"/>
          <p:cNvSpPr/>
          <p:nvPr/>
        </p:nvSpPr>
        <p:spPr>
          <a:xfrm>
            <a:off x="3291840" y="1325880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1.08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/>
          <p:nvPr/>
        </p:nvSpPr>
        <p:spPr>
          <a:xfrm>
            <a:off x="3291840" y="2148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/>
          <p:nvPr/>
        </p:nvSpPr>
        <p:spPr>
          <a:xfrm>
            <a:off x="4572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5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A2C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5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2.7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6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Evaluation (Conv. Rate: 32.00%)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4" name="Google Shape;16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chart_7.png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7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3" name="Google Shape;17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7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Exit Actions (Topic ≠ 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5" name="Google Shape;17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7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chart_8.png | chart_9.png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Model Comparison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3" name="Google Shape;183;p18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{D5F6018F-751F-4F2E-BD67-FB7EB4D050E7}</a:tableStyleId>
              </a:tblPr>
              <a:tblGrid>
                <a:gridCol w="2286000"/>
                <a:gridCol w="1981200"/>
                <a:gridCol w="1981200"/>
              </a:tblGrid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DQN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A2C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Conversion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44.7%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32.0%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Reward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Learning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3e-5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5e-5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Timesteps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400,000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300,000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84" name="Google Shape;184;p18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DQN achieves significantly higher conversion rate (44.7%) vs A2C (32.0%), with exit threshold = 7 pushing to 46.0%.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models evaluated over 1,000 episodes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Key Takeaways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DQN outperforms A2C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44.7% conversion rate vs 32.0% — DQN's experience replay and target network provide more stable learning in this environment.</a:t>
            </a:r>
            <a:b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Longer negotiations improve outcomes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Increasing the exit threshold from 5 to 7 rounds boosted DQN conversion from 44.7% to 46.0%, suggesting the agent benefits from additional interaction rounds.</a:t>
            </a:r>
            <a:b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Action distribution reveals strategy differences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Analyzing per-topic action distributions (excluding exit actions) shows how each model adapts its persuasion strategy to different customer objections.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2026-03-12T15:17:50Z</dcterms:created>
  <dc:creator>Notebook-to-Slides Skill</dc:creator>
</cp:coreProperties>
</file>