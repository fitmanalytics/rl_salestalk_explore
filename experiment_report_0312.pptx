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6" roundtripDataSignature="AMtx7mj2g1lDYKB5vuwMNxdoQahRRPq7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47F96D-78DB-4BDB-ABDF-0456B0726237}">
  <a:tblStyle styleId="{A447F96D-78DB-4BDB-ABDF-0456B07262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customschemas.google.com/relationships/presentationmetadata" Target="metadata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95f996db06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g395f996db06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g395f996db06_0_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95f996db06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g395f996db06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g395f996db06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95f996db06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g395f996db06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g395f996db06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5f996db06_0_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g395f996db06_0_4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g395f996db06_0_4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cfb9573623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3cfb9573623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g3cfb9573623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40080" y="1280160"/>
            <a:ext cx="7772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Trebuchet MS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RL Sales Negotiation Agent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40080" y="237744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Experiment Results — DQN vs A2C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March 12,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Experiment Overview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Objective: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Train RL agents to handle customer objections in a simulated sales negotiation environment</a:t>
            </a:r>
            <a:r>
              <a:rPr lang="en-US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Algorithms: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DQN (Deep Q-Network) and A2C (Advantage Actor-Critic) via Stable Baselines 3.</a:t>
            </a:r>
            <a:b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Evaluation: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1,000 episodes per model. Key metrics: average reward, conversion rate, action distribution.</a:t>
            </a:r>
            <a:b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Experiments: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DQN baseline (exit threshold = 5), DQN variant (exit threshold = 7), A2C baseline.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SalesNegotiationEnv — Custom Gymnasium Environment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"/>
          <p:cNvSpPr/>
          <p:nvPr/>
        </p:nvSpPr>
        <p:spPr>
          <a:xfrm>
            <a:off x="457200" y="1828800"/>
            <a:ext cx="1097280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3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DQN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3"/>
          <p:cNvSpPr/>
          <p:nvPr/>
        </p:nvSpPr>
        <p:spPr>
          <a:xfrm>
            <a:off x="457200" y="292608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Framework: Stable Baseline 3.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Online Training with epsilon greedy sampling strategy.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Architecture: Q-net with 2 layer MLP [128, 64].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Configuration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029200" y="9144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Training Setup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5029200" y="1371600"/>
            <a:ext cx="3657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total timesteps: 400,000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eval freq: 5,000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 eval episodes: 1000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checkpoint freq: 5,000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4" name="Google Shape;44;p4"/>
          <p:cNvGraphicFramePr/>
          <p:nvPr/>
        </p:nvGraphicFramePr>
        <p:xfrm>
          <a:off x="457200" y="1097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{A447F96D-78DB-4BDB-ABDF-0456B0726237}</a:tableStyleId>
              </a:tblPr>
              <a:tblGrid>
                <a:gridCol w="2263150"/>
                <a:gridCol w="1851650"/>
              </a:tblGrid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Parameter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gamma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learning_rate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3e-5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batch_size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buffer_size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50,000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target_update_interval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20,000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learning_starts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40,000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train_freq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exploration_initial_eps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exploration_final_eps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exploration_fraction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max_grad_norm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5" name="Google Shape;45;p4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Stable Baselines 3 — DQN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5f996db06_0_17"/>
          <p:cNvSpPr/>
          <p:nvPr/>
        </p:nvSpPr>
        <p:spPr>
          <a:xfrm>
            <a:off x="457200" y="274320"/>
            <a:ext cx="822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Results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g395f996db06_0_17"/>
          <p:cNvSpPr/>
          <p:nvPr/>
        </p:nvSpPr>
        <p:spPr>
          <a:xfrm>
            <a:off x="457200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g395f996db06_0_17"/>
          <p:cNvSpPr/>
          <p:nvPr/>
        </p:nvSpPr>
        <p:spPr>
          <a:xfrm>
            <a:off x="457200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4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4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.7</a:t>
            </a: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%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95f996db06_0_17"/>
          <p:cNvSpPr/>
          <p:nvPr/>
        </p:nvSpPr>
        <p:spPr>
          <a:xfrm>
            <a:off x="457200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Conversion Rate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95f996db06_0_17"/>
          <p:cNvSpPr/>
          <p:nvPr/>
        </p:nvSpPr>
        <p:spPr>
          <a:xfrm>
            <a:off x="3291840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g395f996db06_0_17"/>
          <p:cNvSpPr/>
          <p:nvPr/>
        </p:nvSpPr>
        <p:spPr>
          <a:xfrm>
            <a:off x="3291840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1.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51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95f996db06_0_17"/>
          <p:cNvSpPr/>
          <p:nvPr/>
        </p:nvSpPr>
        <p:spPr>
          <a:xfrm>
            <a:off x="3291840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Reward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95f996db06_0_17"/>
          <p:cNvSpPr/>
          <p:nvPr/>
        </p:nvSpPr>
        <p:spPr>
          <a:xfrm>
            <a:off x="457200" y="3017520"/>
            <a:ext cx="7315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Evaluated over 1,000 episodes using best model checkpoint.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g395f996db06_0_17"/>
          <p:cNvSpPr/>
          <p:nvPr/>
        </p:nvSpPr>
        <p:spPr>
          <a:xfrm>
            <a:off x="457200" y="4663440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DQN Evaluation Results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g395f996db06_0_17"/>
          <p:cNvSpPr/>
          <p:nvPr/>
        </p:nvSpPr>
        <p:spPr>
          <a:xfrm>
            <a:off x="6126492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g395f996db06_0_17"/>
          <p:cNvSpPr/>
          <p:nvPr/>
        </p:nvSpPr>
        <p:spPr>
          <a:xfrm>
            <a:off x="6126492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3.8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95f996db06_0_17"/>
          <p:cNvSpPr/>
          <p:nvPr/>
        </p:nvSpPr>
        <p:spPr>
          <a:xfrm>
            <a:off x="6126492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</a:t>
            </a: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Episode Length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6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Evaluation (Conv. Rate: 44.70%)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9" name="Google Shape;6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822960"/>
            <a:ext cx="822960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6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chart_0.png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Action Distribution Comparison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8"/>
          <p:cNvSpPr/>
          <p:nvPr/>
        </p:nvSpPr>
        <p:spPr>
          <a:xfrm>
            <a:off x="27432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Actions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8" name="Google Shape;7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8"/>
          <p:cNvSpPr/>
          <p:nvPr/>
        </p:nvSpPr>
        <p:spPr>
          <a:xfrm>
            <a:off x="475488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Excluding </a:t>
            </a:r>
            <a:r>
              <a:rPr b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Topic 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0" name="Google Shape;8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772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8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chart_2.png | chart_3.png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95f996db06_0_36"/>
          <p:cNvSpPr/>
          <p:nvPr/>
        </p:nvSpPr>
        <p:spPr>
          <a:xfrm>
            <a:off x="457200" y="274320"/>
            <a:ext cx="8229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Key Takeaways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g395f996db06_0_36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1" lang="en-US" sz="16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Objection Handling Strategy</a:t>
            </a:r>
            <a:endParaRPr b="1" sz="16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objection is A/B/C: prioritize incentives. In particular, always use incentives for the first two rounds when possible.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objection is D and round &lt; 5, persuade. If round &gt;= 5: enforce close.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t/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1" lang="en-US" sz="16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Early Closing</a:t>
            </a:r>
            <a:endParaRPr b="1" sz="16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objection is A/B/C: closing starting at round 5 (moderately), enforce closing at round 6 and after.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objection is D, moderate closing at round 4, enforce at round 5 and after.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t/>
            </a:r>
            <a:endParaRPr b="1" sz="16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t/>
            </a:r>
            <a:endParaRPr b="1" sz="16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9"/>
          <p:cNvSpPr/>
          <p:nvPr/>
        </p:nvSpPr>
        <p:spPr>
          <a:xfrm>
            <a:off x="457200" y="1828800"/>
            <a:ext cx="1097280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9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DQN Experiment: change exit threshold to 7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9"/>
          <p:cNvSpPr/>
          <p:nvPr/>
        </p:nvSpPr>
        <p:spPr>
          <a:xfrm>
            <a:off x="457200" y="3202630"/>
            <a:ext cx="7315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Same model architecture, </a:t>
            </a:r>
            <a:r>
              <a:rPr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only</a:t>
            </a:r>
            <a:r>
              <a:rPr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change customer_exit_threshold from the gym environment (from 5) to 7.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5f996db06_0_0"/>
          <p:cNvSpPr/>
          <p:nvPr/>
        </p:nvSpPr>
        <p:spPr>
          <a:xfrm>
            <a:off x="457200" y="274320"/>
            <a:ext cx="822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— Results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395f996db06_0_0"/>
          <p:cNvSpPr/>
          <p:nvPr/>
        </p:nvSpPr>
        <p:spPr>
          <a:xfrm>
            <a:off x="457200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95f996db06_0_0"/>
          <p:cNvSpPr/>
          <p:nvPr/>
        </p:nvSpPr>
        <p:spPr>
          <a:xfrm>
            <a:off x="457200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4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6.0</a:t>
            </a: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%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g395f996db06_0_0"/>
          <p:cNvSpPr/>
          <p:nvPr/>
        </p:nvSpPr>
        <p:spPr>
          <a:xfrm>
            <a:off x="457200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Conversion Rate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95f996db06_0_0"/>
          <p:cNvSpPr/>
          <p:nvPr/>
        </p:nvSpPr>
        <p:spPr>
          <a:xfrm>
            <a:off x="3291840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95f996db06_0_0"/>
          <p:cNvSpPr/>
          <p:nvPr/>
        </p:nvSpPr>
        <p:spPr>
          <a:xfrm>
            <a:off x="3291840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1.</a:t>
            </a: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66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g395f996db06_0_0"/>
          <p:cNvSpPr/>
          <p:nvPr/>
        </p:nvSpPr>
        <p:spPr>
          <a:xfrm>
            <a:off x="3291840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Reward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95f996db06_0_0"/>
          <p:cNvSpPr/>
          <p:nvPr/>
        </p:nvSpPr>
        <p:spPr>
          <a:xfrm>
            <a:off x="457200" y="3017520"/>
            <a:ext cx="7315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Evaluated over 1,000 episodes using best model checkpoint.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g395f996db06_0_0"/>
          <p:cNvSpPr/>
          <p:nvPr/>
        </p:nvSpPr>
        <p:spPr>
          <a:xfrm>
            <a:off x="457200" y="4663440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DQN Evaluation Results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g395f996db06_0_0"/>
          <p:cNvSpPr/>
          <p:nvPr/>
        </p:nvSpPr>
        <p:spPr>
          <a:xfrm>
            <a:off x="6126492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g395f996db06_0_0"/>
          <p:cNvSpPr/>
          <p:nvPr/>
        </p:nvSpPr>
        <p:spPr>
          <a:xfrm>
            <a:off x="6126492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4.5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95f996db06_0_0"/>
          <p:cNvSpPr/>
          <p:nvPr/>
        </p:nvSpPr>
        <p:spPr>
          <a:xfrm>
            <a:off x="6126492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</a:t>
            </a: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Round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Experiment: exit threshold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0" name="Google Shape;12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822960"/>
            <a:ext cx="8229600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2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DQN Experiment: exit threshold — Action Distribution Comparison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2"/>
          <p:cNvSpPr/>
          <p:nvPr/>
        </p:nvSpPr>
        <p:spPr>
          <a:xfrm>
            <a:off x="27432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Actions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8" name="Google Shape;12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2"/>
          <p:cNvSpPr/>
          <p:nvPr/>
        </p:nvSpPr>
        <p:spPr>
          <a:xfrm>
            <a:off x="475488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Excluding Topic 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0" name="Google Shape;130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772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5f996db06_0_49"/>
          <p:cNvSpPr/>
          <p:nvPr/>
        </p:nvSpPr>
        <p:spPr>
          <a:xfrm>
            <a:off x="457200" y="274320"/>
            <a:ext cx="82296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Key Takeaways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g395f996db06_0_49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1" lang="en-US" sz="16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Objection Handling Strategy</a:t>
            </a:r>
            <a:endParaRPr b="1" sz="16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objection is A/B/C: still prioritize incentives. (Always use incentive at round 1.) But has a higher percentage of persuade than when exit threshold = 5.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objection is D and round &lt; 5, persuade. If round &gt;= 5: enforce close.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t/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1" lang="en-US" sz="16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Early Closing</a:t>
            </a:r>
            <a:endParaRPr b="1" sz="16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objection is A/B/C: closing starting at round 7 (moderately), enforce closing at round 8 and after.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objection is D, moderate closing at round 4, enforce at round 6 and after.</a:t>
            </a:r>
            <a:endParaRPr sz="13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t/>
            </a:r>
            <a:endParaRPr b="1" sz="16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t/>
            </a:r>
            <a:endParaRPr b="1" sz="1600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3"/>
          <p:cNvSpPr/>
          <p:nvPr/>
        </p:nvSpPr>
        <p:spPr>
          <a:xfrm>
            <a:off x="457200" y="1828800"/>
            <a:ext cx="1097280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3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A2C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3"/>
          <p:cNvSpPr/>
          <p:nvPr/>
        </p:nvSpPr>
        <p:spPr>
          <a:xfrm>
            <a:off x="457200" y="292608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A2C models</a:t>
            </a:r>
            <a:r>
              <a:rPr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with 2-layer MLP policy-net and value-net (both [128,64]).</a:t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fb9573623_0_0"/>
          <p:cNvSpPr/>
          <p:nvPr/>
        </p:nvSpPr>
        <p:spPr>
          <a:xfrm>
            <a:off x="0" y="0"/>
            <a:ext cx="9144000" cy="549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cfb9573623_0_0"/>
          <p:cNvSpPr/>
          <p:nvPr/>
        </p:nvSpPr>
        <p:spPr>
          <a:xfrm>
            <a:off x="548640" y="182880"/>
            <a:ext cx="8046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36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A1F36"/>
                </a:solidFill>
                <a:latin typeface="Trebuchet MS"/>
                <a:ea typeface="Trebuchet MS"/>
                <a:cs typeface="Trebuchet MS"/>
                <a:sym typeface="Trebuchet MS"/>
              </a:rPr>
              <a:t>A2C + GAE  —  Full Pseudocode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cfb9573623_0_0"/>
          <p:cNvSpPr/>
          <p:nvPr/>
        </p:nvSpPr>
        <p:spPr>
          <a:xfrm>
            <a:off x="548640" y="777240"/>
            <a:ext cx="3840600" cy="141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g3cfb9573623_0_0"/>
          <p:cNvSpPr/>
          <p:nvPr/>
        </p:nvSpPr>
        <p:spPr>
          <a:xfrm>
            <a:off x="548640" y="777240"/>
            <a:ext cx="45600" cy="141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g3cfb9573623_0_0"/>
          <p:cNvSpPr/>
          <p:nvPr/>
        </p:nvSpPr>
        <p:spPr>
          <a:xfrm>
            <a:off x="685800" y="822960"/>
            <a:ext cx="3566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Trebuchet MS"/>
              <a:buNone/>
            </a:pPr>
            <a:r>
              <a:rPr b="1" i="0" lang="en-US" sz="1200" u="none" cap="none" strike="noStrike">
                <a:solidFill>
                  <a:srgbClr val="0D9488"/>
                </a:solidFill>
                <a:latin typeface="Trebuchet MS"/>
                <a:ea typeface="Trebuchet MS"/>
                <a:cs typeface="Trebuchet MS"/>
                <a:sym typeface="Trebuchet MS"/>
              </a:rPr>
              <a:t>Step 1 — Collect Rollouts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cfb9573623_0_0"/>
          <p:cNvSpPr/>
          <p:nvPr/>
        </p:nvSpPr>
        <p:spPr>
          <a:xfrm>
            <a:off x="685800" y="1115568"/>
            <a:ext cx="3566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for each env n = 1..N, step t = 0..T-1: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    a_t ~ π( · | s_t ; θ 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    Execute a_t → r_t, s_{t+1}, done_t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    Store ( s_t, a_t, r_t, s_{t+1}, done_t 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cfb9573623_0_0"/>
          <p:cNvSpPr/>
          <p:nvPr/>
        </p:nvSpPr>
        <p:spPr>
          <a:xfrm>
            <a:off x="548640" y="2377440"/>
            <a:ext cx="3840600" cy="1371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g3cfb9573623_0_0"/>
          <p:cNvSpPr/>
          <p:nvPr/>
        </p:nvSpPr>
        <p:spPr>
          <a:xfrm>
            <a:off x="548640" y="2377440"/>
            <a:ext cx="4560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g3cfb9573623_0_0"/>
          <p:cNvSpPr/>
          <p:nvPr/>
        </p:nvSpPr>
        <p:spPr>
          <a:xfrm>
            <a:off x="685800" y="2423160"/>
            <a:ext cx="3566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Trebuchet MS"/>
              <a:buNone/>
            </a:pPr>
            <a:r>
              <a:rPr b="1" i="0" lang="en-US" sz="1200" u="none" cap="none" strike="noStrike">
                <a:solidFill>
                  <a:srgbClr val="0D9488"/>
                </a:solidFill>
                <a:latin typeface="Trebuchet MS"/>
                <a:ea typeface="Trebuchet MS"/>
                <a:cs typeface="Trebuchet MS"/>
                <a:sym typeface="Trebuchet MS"/>
              </a:rPr>
              <a:t>Step 2 — TD Residuals + GAE Advantages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g3cfb9573623_0_0"/>
          <p:cNvSpPr/>
          <p:nvPr/>
        </p:nvSpPr>
        <p:spPr>
          <a:xfrm>
            <a:off x="685800" y="2715768"/>
            <a:ext cx="35661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δ_t = r_t + γ · V(s_{t+1}; w)·(1-done) − V(s_t; w)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Â_T = 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for t = T-1 down to 0: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    Â_t = δ_t + γ · λ · (1 - done_t) · Â_{t+1}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g3cfb9573623_0_0"/>
          <p:cNvSpPr/>
          <p:nvPr/>
        </p:nvSpPr>
        <p:spPr>
          <a:xfrm>
            <a:off x="548640" y="3931920"/>
            <a:ext cx="3840600" cy="1051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g3cfb9573623_0_0"/>
          <p:cNvSpPr/>
          <p:nvPr/>
        </p:nvSpPr>
        <p:spPr>
          <a:xfrm>
            <a:off x="548640" y="3931920"/>
            <a:ext cx="45600" cy="1051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cfb9573623_0_0"/>
          <p:cNvSpPr/>
          <p:nvPr/>
        </p:nvSpPr>
        <p:spPr>
          <a:xfrm>
            <a:off x="685800" y="3977640"/>
            <a:ext cx="3566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Trebuchet MS"/>
              <a:buNone/>
            </a:pPr>
            <a:r>
              <a:rPr b="1" i="0" lang="en-US" sz="1200" u="none" cap="none" strike="noStrike">
                <a:solidFill>
                  <a:srgbClr val="0D9488"/>
                </a:solidFill>
                <a:latin typeface="Trebuchet MS"/>
                <a:ea typeface="Trebuchet MS"/>
                <a:cs typeface="Trebuchet MS"/>
                <a:sym typeface="Trebuchet MS"/>
              </a:rPr>
              <a:t>Step 3 — Returns (Critic Target)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cfb9573623_0_0"/>
          <p:cNvSpPr/>
          <p:nvPr/>
        </p:nvSpPr>
        <p:spPr>
          <a:xfrm>
            <a:off x="685800" y="4297680"/>
            <a:ext cx="3566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R_t = Â_t + V(s_t ; w)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cfb9573623_0_0"/>
          <p:cNvSpPr/>
          <p:nvPr/>
        </p:nvSpPr>
        <p:spPr>
          <a:xfrm>
            <a:off x="4754880" y="777240"/>
            <a:ext cx="3840600" cy="1920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g3cfb9573623_0_0"/>
          <p:cNvSpPr/>
          <p:nvPr/>
        </p:nvSpPr>
        <p:spPr>
          <a:xfrm>
            <a:off x="4754880" y="777240"/>
            <a:ext cx="45600" cy="19203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cfb9573623_0_0"/>
          <p:cNvSpPr/>
          <p:nvPr/>
        </p:nvSpPr>
        <p:spPr>
          <a:xfrm>
            <a:off x="4892040" y="822960"/>
            <a:ext cx="3566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Trebuchet MS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Trebuchet MS"/>
                <a:ea typeface="Trebuchet MS"/>
                <a:cs typeface="Trebuchet MS"/>
                <a:sym typeface="Trebuchet MS"/>
              </a:rPr>
              <a:t>Step 4 — Compute Losses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cfb9573623_0_0"/>
          <p:cNvSpPr/>
          <p:nvPr/>
        </p:nvSpPr>
        <p:spPr>
          <a:xfrm>
            <a:off x="4892040" y="1115568"/>
            <a:ext cx="3566100" cy="15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F36"/>
              </a:buClr>
              <a:buSzPts val="900"/>
              <a:buFont typeface="Consolas"/>
              <a:buNone/>
            </a:pPr>
            <a:r>
              <a:rPr b="1" i="0" lang="en-US" sz="900" u="none" cap="none" strike="noStrike">
                <a:solidFill>
                  <a:srgbClr val="1A1F36"/>
                </a:solidFill>
                <a:latin typeface="Consolas"/>
                <a:ea typeface="Consolas"/>
                <a:cs typeface="Consolas"/>
                <a:sym typeface="Consolas"/>
              </a:rPr>
              <a:t>Critic loss: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  L_critic(w) = (1/NT) Σ [ R_t − V(s_t;w) ]²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F36"/>
              </a:buClr>
              <a:buSzPts val="900"/>
              <a:buFont typeface="Consolas"/>
              <a:buNone/>
            </a:pPr>
            <a:r>
              <a:rPr b="1" i="0" lang="en-US" sz="900" u="none" cap="none" strike="noStrike">
                <a:solidFill>
                  <a:srgbClr val="1A1F36"/>
                </a:solidFill>
                <a:latin typeface="Consolas"/>
                <a:ea typeface="Consolas"/>
                <a:cs typeface="Consolas"/>
                <a:sym typeface="Consolas"/>
              </a:rPr>
              <a:t>Actor loss: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  L_actor(θ) = −(1/NT) Σ log π(a_t|s_t;θ) · Â_t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F36"/>
              </a:buClr>
              <a:buSzPts val="900"/>
              <a:buFont typeface="Consolas"/>
              <a:buNone/>
            </a:pPr>
            <a:r>
              <a:rPr b="1" i="0" lang="en-US" sz="900" u="none" cap="none" strike="noStrike">
                <a:solidFill>
                  <a:srgbClr val="1A1F36"/>
                </a:solidFill>
                <a:latin typeface="Consolas"/>
                <a:ea typeface="Consolas"/>
                <a:cs typeface="Consolas"/>
                <a:sym typeface="Consolas"/>
              </a:rPr>
              <a:t>Entropy bonus: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  H(θ) = −(1/NT) Σ π log 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cfb9573623_0_0"/>
          <p:cNvSpPr/>
          <p:nvPr/>
        </p:nvSpPr>
        <p:spPr>
          <a:xfrm>
            <a:off x="4754880" y="2880360"/>
            <a:ext cx="3840600" cy="141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cfb9573623_0_0"/>
          <p:cNvSpPr/>
          <p:nvPr/>
        </p:nvSpPr>
        <p:spPr>
          <a:xfrm>
            <a:off x="4754880" y="2880360"/>
            <a:ext cx="45600" cy="141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g3cfb9573623_0_0"/>
          <p:cNvSpPr/>
          <p:nvPr/>
        </p:nvSpPr>
        <p:spPr>
          <a:xfrm>
            <a:off x="4892040" y="2926080"/>
            <a:ext cx="3566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Trebuchet MS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Trebuchet MS"/>
                <a:ea typeface="Trebuchet MS"/>
                <a:cs typeface="Trebuchet MS"/>
                <a:sym typeface="Trebuchet MS"/>
              </a:rPr>
              <a:t>Step 5 — Update Weights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g3cfb9573623_0_0"/>
          <p:cNvSpPr/>
          <p:nvPr/>
        </p:nvSpPr>
        <p:spPr>
          <a:xfrm>
            <a:off x="4892040" y="3246120"/>
            <a:ext cx="35661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θ ← θ − α_θ * ∇_θ( L_actor − β·H 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w ← w − α_w * ∇_w</a:t>
            </a:r>
            <a:r>
              <a:rPr lang="en-US" sz="900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-US" sz="900" u="none" cap="none" strike="noStrike">
                <a:solidFill>
                  <a:srgbClr val="334155"/>
                </a:solidFill>
                <a:latin typeface="Consolas"/>
                <a:ea typeface="Consolas"/>
                <a:cs typeface="Consolas"/>
                <a:sym typeface="Consolas"/>
              </a:rPr>
              <a:t>L_critic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onsolas"/>
              <a:buNone/>
            </a:pPr>
            <a:r>
              <a:rPr i="1" lang="en-US" sz="9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where alpha_theta and alpha_w is the learning 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g3cfb9573623_0_0"/>
          <p:cNvSpPr/>
          <p:nvPr/>
        </p:nvSpPr>
        <p:spPr>
          <a:xfrm>
            <a:off x="4754880" y="4480560"/>
            <a:ext cx="3840600" cy="502800"/>
          </a:xfrm>
          <a:prstGeom prst="rect">
            <a:avLst/>
          </a:prstGeom>
          <a:solidFill>
            <a:srgbClr val="F0FDFA"/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cfb9573623_0_0"/>
          <p:cNvSpPr/>
          <p:nvPr/>
        </p:nvSpPr>
        <p:spPr>
          <a:xfrm>
            <a:off x="4864608" y="4498848"/>
            <a:ext cx="3621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Note: </a:t>
            </a:r>
            <a:r>
              <a:rPr b="0" i="0" lang="en-US" sz="9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Â_t uses V(s;w) as baseline → low variance.  Minus β·H maximizes entropy for exploration.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4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A2C — Configuration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4"/>
          <p:cNvSpPr/>
          <p:nvPr/>
        </p:nvSpPr>
        <p:spPr>
          <a:xfrm>
            <a:off x="5029200" y="9144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Training Setup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4"/>
          <p:cNvSpPr/>
          <p:nvPr/>
        </p:nvSpPr>
        <p:spPr>
          <a:xfrm>
            <a:off x="5029200" y="1371600"/>
            <a:ext cx="3657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total timesteps: 300,000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eval freq: 5,000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 eval episodes: 1000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checkpoint freq: 5000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3" name="Google Shape;183;p14"/>
          <p:cNvGraphicFramePr/>
          <p:nvPr/>
        </p:nvGraphicFramePr>
        <p:xfrm>
          <a:off x="457200" y="1097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{A447F96D-78DB-4BDB-ABDF-0456B0726237}</a:tableStyleId>
              </a:tblPr>
              <a:tblGrid>
                <a:gridCol w="2263150"/>
                <a:gridCol w="1851650"/>
              </a:tblGrid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Parameter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net_arch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dict( pi=[128, 64], # Actor layers vf=[128, 64] # Critic layers 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gamma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learning_rate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5e-5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n_steps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gae_lambda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ent_coef(</a:t>
                      </a:r>
                      <a:r>
                        <a:rPr lang="en-US" sz="900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β</a:t>
                      </a: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)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vf_coef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max_grad_norm</a:t>
                      </a:r>
                      <a:endParaRPr sz="1000" u="none" cap="none" strike="noStrik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50800" marB="50800" marR="76200" marL="762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4" name="Google Shape;184;p14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Stable Baselines 3 — A2C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5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A2C — Results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5"/>
          <p:cNvSpPr/>
          <p:nvPr/>
        </p:nvSpPr>
        <p:spPr>
          <a:xfrm>
            <a:off x="457200" y="1188720"/>
            <a:ext cx="25603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5"/>
          <p:cNvSpPr/>
          <p:nvPr/>
        </p:nvSpPr>
        <p:spPr>
          <a:xfrm>
            <a:off x="457200" y="1325880"/>
            <a:ext cx="2560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32.0%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5"/>
          <p:cNvSpPr/>
          <p:nvPr/>
        </p:nvSpPr>
        <p:spPr>
          <a:xfrm>
            <a:off x="457200" y="21488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Conversion Rate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3291840" y="1188720"/>
            <a:ext cx="25603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5"/>
          <p:cNvSpPr/>
          <p:nvPr/>
        </p:nvSpPr>
        <p:spPr>
          <a:xfrm>
            <a:off x="3291840" y="1325880"/>
            <a:ext cx="2560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1.08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3291840" y="21488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Reward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5"/>
          <p:cNvSpPr/>
          <p:nvPr/>
        </p:nvSpPr>
        <p:spPr>
          <a:xfrm>
            <a:off x="4572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Evaluated over 1,000 episodes using best model checkpoint.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5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A2C Evaluation Results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5"/>
          <p:cNvSpPr/>
          <p:nvPr/>
        </p:nvSpPr>
        <p:spPr>
          <a:xfrm>
            <a:off x="6126492" y="1188720"/>
            <a:ext cx="2560200" cy="146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rotWithShape="0" algn="bl" dir="8100000" dist="25400">
              <a:srgbClr val="000000">
                <a:alpha val="78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"/>
          <p:cNvSpPr/>
          <p:nvPr/>
        </p:nvSpPr>
        <p:spPr>
          <a:xfrm>
            <a:off x="6126492" y="1325880"/>
            <a:ext cx="2560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0891B2"/>
                </a:solidFill>
                <a:latin typeface="Trebuchet MS"/>
                <a:ea typeface="Trebuchet MS"/>
                <a:cs typeface="Trebuchet MS"/>
                <a:sym typeface="Trebuchet MS"/>
              </a:rPr>
              <a:t>2.7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5"/>
          <p:cNvSpPr/>
          <p:nvPr/>
        </p:nvSpPr>
        <p:spPr>
          <a:xfrm>
            <a:off x="6126492" y="2148840"/>
            <a:ext cx="256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</a:t>
            </a: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Round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6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A2C — Evaluation (Conv. Rate: 32.00%)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8" name="Google Shape;20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822960"/>
            <a:ext cx="822960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6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chart_7.png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A2C — Action Distribution Comparison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7"/>
          <p:cNvSpPr/>
          <p:nvPr/>
        </p:nvSpPr>
        <p:spPr>
          <a:xfrm>
            <a:off x="27432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Actions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7" name="Google Shape;21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7"/>
          <p:cNvSpPr/>
          <p:nvPr/>
        </p:nvSpPr>
        <p:spPr>
          <a:xfrm>
            <a:off x="4754880" y="5486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Excluding Topic 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9" name="Google Shape;21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7720" y="822960"/>
            <a:ext cx="43891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7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chart_8.png | chart_9.png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8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Model Comparison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7" name="Google Shape;227;p18"/>
          <p:cNvGraphicFramePr/>
          <p:nvPr/>
        </p:nvGraphicFramePr>
        <p:xfrm>
          <a:off x="457200" y="1097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{A447F96D-78DB-4BDB-ABDF-0456B0726237}</a:tableStyleId>
              </a:tblPr>
              <a:tblGrid>
                <a:gridCol w="2286000"/>
                <a:gridCol w="1981200"/>
                <a:gridCol w="1981200"/>
              </a:tblGrid>
              <a:tr h="1524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DQN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A2C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Conversion Rate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44.7%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32.0%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Avg Reward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Learning Rate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3e-5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5e-5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9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Timesteps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400,000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300,000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01600" marL="10160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28" name="Google Shape;228;p18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DQN achieves significantly higher conversion rate (44.7%) vs A2C (32.0%), with exit threshold = 7 pushing to 46.0%.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8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models evaluated over 1,000 episodes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2026-03-12T15:17:50Z</dcterms:created>
  <dc:creator>Notebook-to-Slides Skill</dc:creator>
</cp:coreProperties>
</file>